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gB4XXsIIdUtmIbS1XDJVpFmhU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24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698480" y="2194560"/>
            <a:ext cx="2377440" cy="2377440"/>
          </a:xfrm>
          <a:prstGeom prst="ellipse">
            <a:avLst/>
          </a:prstGeom>
          <a:solidFill>
            <a:srgbClr val="00A896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02C39A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PROYECTO APT · ASIGNATURA CAPSTONE · FASE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187452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Plataforma de Gestión y Evaluación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Movimiento Funcional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3703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Centro de Acondicionamiento Físico (CAF) — Duoc UC, Sede Plaza Vespucio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58368" y="434340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Vicente Núñez  ·  Sebastián Torres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491947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FE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B9CFE0"/>
                </a:solidFill>
                <a:latin typeface="Calibri"/>
                <a:ea typeface="Calibri"/>
                <a:cs typeface="Calibri"/>
                <a:sym typeface="Calibri"/>
              </a:rPr>
              <a:t>Ingeniería Informática — Sede Plaza Vespucio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01 · EQUIPO DE TRABAJO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Integrantes y Roles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68096" y="1691640"/>
            <a:ext cx="5074920" cy="3794760"/>
          </a:xfrm>
          <a:prstGeom prst="rect">
            <a:avLst/>
          </a:prstGeom>
          <a:solidFill>
            <a:srgbClr val="F4F8F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802636" y="2103120"/>
            <a:ext cx="1005840" cy="10058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802636" y="21031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42416" y="32918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Vicente Núñez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42416" y="3721608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Desarrolladores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2"/>
          <p:cNvCxnSpPr/>
          <p:nvPr/>
        </p:nvCxnSpPr>
        <p:spPr>
          <a:xfrm>
            <a:off x="2848356" y="4306824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1179576" y="4453128"/>
            <a:ext cx="4251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345936" y="1691640"/>
            <a:ext cx="5074920" cy="3794760"/>
          </a:xfrm>
          <a:prstGeom prst="rect">
            <a:avLst/>
          </a:prstGeom>
          <a:solidFill>
            <a:srgbClr val="F4F8F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380476" y="2103120"/>
            <a:ext cx="1005840" cy="10058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380476" y="210312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620256" y="32918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Sebastián Torres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620256" y="3721608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Desarrolladores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8426196" y="4306824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/>
          <p:nvPr/>
        </p:nvSpPr>
        <p:spPr>
          <a:xfrm>
            <a:off x="6757416" y="4453128"/>
            <a:ext cx="4251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574243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Carrera: Ingeniería Informática        Sede: Plaza Vespucio    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02 · PRESENTACIÓN DEL CASO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Problemática y Propuesta de Solución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16975" y="3347282"/>
            <a:ext cx="5257800" cy="330420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68690" y="3026406"/>
            <a:ext cx="548700" cy="4356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68690" y="3026406"/>
            <a:ext cx="548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554489" y="3026406"/>
            <a:ext cx="3977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14410" y="3607401"/>
            <a:ext cx="45264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proceso de evaluación de movimiento funcional del CAF se registra hoy de forma manual y dispersa.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 información resultante es difícil de organizar, centralizar y analizar por los instructores.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existe un método sistemático para detectar disfunciones ni para vincularlas con ejercicios correctivos.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seguimiento del progreso de cada estudiante en el tiempo es limitado y poco trazable.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263630" y="2969975"/>
            <a:ext cx="5257800" cy="3796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583685" y="3026406"/>
            <a:ext cx="548700" cy="435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583685" y="3026406"/>
            <a:ext cx="548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269484" y="3026406"/>
            <a:ext cx="3977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Propuesta de Solución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629404" y="3607401"/>
            <a:ext cx="45264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Plataforma digital que centraliza evaluaciones de movimiento (FMS, SFMA o MQA) en un solo sistema.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de recomendación que sugiere ejercicios correctivos según los resultados obtenidos.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Perfiles diferenciados para Administrador, Instructor/Evaluador y Estudiante/Usuario.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de analítica y notificaciones de re-evaluación cada 4 a 6 semanas.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781425" y="1508225"/>
            <a:ext cx="10740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Una plataforma digital para el CAF Duoc UC Plaza Vespucio que centraliza la evaluación de patrones de movimiento funcional (FMS, SFMA o MQA), detecta disfunciones y genera recomendaciones automatizadas de ejercicios correctivos para instructores y estudiantes.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03 · OBJETIVOS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Objetivo General y Específicos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8680" y="1810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8680" y="2084832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Diseñar y desarrollar una plataforma digital para gestionar y evaluar el movimiento funcional en el CAF Duoc UC Plaza Vespucio, centralizando los resultados de las evaluaciones y facilitando la generación de recomendaciones de ejercicios correctivos personalizados.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351015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351015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960120" y="336499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Analizar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los requerimientos funcionales y las necesidades de los usuarios.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080760" y="351015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080760" y="351015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92240" y="336499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los perfiles y roles de usuario de la plataforma.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423024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423024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60120" y="408508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Diseñar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 arquitectura de software, base de datos e interfaz de usuario.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080760" y="423024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80760" y="423024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92240" y="408508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Desarrollar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 MVP que registre evaluaciones de movimiento funcional.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495033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495033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60120" y="480517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Implementar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 gestión de perfiles, resultados y antecedentes.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080760" y="495033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080760" y="495033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92240" y="480517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Desarrollar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 motor de recomendación de ejercicios correctivos.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567042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567042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60120" y="552526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Implementar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 dashboard de resultados y métricas de movimiento.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080760" y="5670423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80760" y="5670423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92240" y="5525262"/>
            <a:ext cx="48920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Evaluar y documentar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 factibilidad de visión computacional, pruebas y resultados.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04 · PLAN DE TRABAJO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Cronograma de Hitos Principales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822960" y="3246120"/>
            <a:ext cx="10515600" cy="0"/>
          </a:xfrm>
          <a:prstGeom prst="straightConnector1">
            <a:avLst/>
          </a:prstGeom>
          <a:noFill/>
          <a:ln cap="flat" cmpd="sng" w="50800">
            <a:solidFill>
              <a:srgbClr val="E8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1991106" y="3099816"/>
            <a:ext cx="292608" cy="292608"/>
          </a:xfrm>
          <a:prstGeom prst="ellipse">
            <a:avLst/>
          </a:prstGeom>
          <a:solidFill>
            <a:srgbClr val="00A89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14400" y="2468880"/>
            <a:ext cx="2446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Fase 1  ·  S1–S4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82980" y="3657600"/>
            <a:ext cx="2308860" cy="233172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82980" y="3657600"/>
            <a:ext cx="230886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147572" y="3858768"/>
            <a:ext cx="19796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Análisis y Diseño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147572" y="4434840"/>
            <a:ext cx="19796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requerimientos, arquitectura y base de datos.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2137410" y="3392424"/>
            <a:ext cx="0" cy="265176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4620006" y="3099816"/>
            <a:ext cx="292608" cy="292608"/>
          </a:xfrm>
          <a:prstGeom prst="ellipse">
            <a:avLst/>
          </a:prstGeom>
          <a:solidFill>
            <a:srgbClr val="02809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543300" y="2468880"/>
            <a:ext cx="2446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Fase 2  ·  S5–S7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11880" y="3657600"/>
            <a:ext cx="2308860" cy="233172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11880" y="3657600"/>
            <a:ext cx="23088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776472" y="3858768"/>
            <a:ext cx="19796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MVP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776472" y="4434840"/>
            <a:ext cx="19796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Frontend, backend y módulo de evaluación digital (núcleo del MVP).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4766310" y="3392424"/>
            <a:ext cx="0" cy="265176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5"/>
          <p:cNvSpPr/>
          <p:nvPr/>
        </p:nvSpPr>
        <p:spPr>
          <a:xfrm>
            <a:off x="7248906" y="3099816"/>
            <a:ext cx="292608" cy="292608"/>
          </a:xfrm>
          <a:prstGeom prst="ellipse">
            <a:avLst/>
          </a:prstGeom>
          <a:solidFill>
            <a:srgbClr val="02809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172200" y="2468880"/>
            <a:ext cx="2446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Fase 2  ·  S7–S15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240780" y="3657600"/>
            <a:ext cx="2308860" cy="233172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40780" y="3657600"/>
            <a:ext cx="23088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405372" y="3858768"/>
            <a:ext cx="19796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Inteligencia y Analítica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5372" y="4434840"/>
            <a:ext cx="19796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Motor de recomendaciones, dashboard y análisis de visión computacional.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7395210" y="3392424"/>
            <a:ext cx="0" cy="265176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9877806" y="3099816"/>
            <a:ext cx="292608" cy="292608"/>
          </a:xfrm>
          <a:prstGeom prst="ellipse">
            <a:avLst/>
          </a:prstGeom>
          <a:solidFill>
            <a:srgbClr val="16324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801100" y="2468880"/>
            <a:ext cx="2446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Fase 3  ·  S15–S17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869680" y="3657600"/>
            <a:ext cx="2308860" cy="233172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869680" y="3657600"/>
            <a:ext cx="2308860" cy="7315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034272" y="3858768"/>
            <a:ext cx="19796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Cierre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034272" y="4434840"/>
            <a:ext cx="197967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Pruebas funcionales, corrección de errores e informe final.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>
            <a:off x="10024110" y="3392424"/>
            <a:ext cx="0" cy="265176"/>
          </a:xfrm>
          <a:prstGeom prst="straightConnector1">
            <a:avLst/>
          </a:prstGeom>
          <a:noFill/>
          <a:ln cap="flat" cmpd="sng" w="19050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Responsables: Vicente Núñez y Sebastián Torres  ·  Duración total: 17 Semanas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05 · METODOLOGÍA A UTILIZAR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Scrum + Design Thinking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 trabajará bajo el marco ágil Scrum, apoyado en técnicas de Design Thinking para el levantamiento y priorización de requerimientos. La Fase 1 entrega los documentos base que fundamentan el proyecto: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2423160"/>
            <a:ext cx="2011680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298448" y="2679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298448" y="26791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0080" y="32918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del Caso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761488" y="2423160"/>
            <a:ext cx="2011680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511296" y="2679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511296" y="26791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852928" y="32918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Squad y responsabilidades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974336" y="2423160"/>
            <a:ext cx="2011680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724144" y="2679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724144" y="26791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065776" y="32918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Mapa Mental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187184" y="2423160"/>
            <a:ext cx="2011680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936992" y="2679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936992" y="26791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278624" y="32918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Mapa de Actores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400032" y="2423160"/>
            <a:ext cx="2011680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0149840" y="267919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0149840" y="26791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491472" y="32918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Visión + 4 pilares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4206240"/>
            <a:ext cx="2011680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298448" y="446227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298448" y="44622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5074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Épicas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761488" y="4206240"/>
            <a:ext cx="2011680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511296" y="446227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511296" y="44622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852928" y="5074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974336" y="4206240"/>
            <a:ext cx="2011680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724144" y="446227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724144" y="44622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065776" y="5074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Mapping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187184" y="4206240"/>
            <a:ext cx="2011680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936992" y="446227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936992" y="44622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278624" y="5074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Backlog Priorizado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400032" y="4206240"/>
            <a:ext cx="2011680" cy="1508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149840" y="446227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149840" y="44622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491472" y="5074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Story Mapping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06 · TECNOLOGÍAS A UTILIZAR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Stack Tecnológico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244084" y="1709928"/>
            <a:ext cx="2606040" cy="374904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344168" y="219456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344168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81228" y="32918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7"/>
          <p:cNvCxnSpPr/>
          <p:nvPr/>
        </p:nvCxnSpPr>
        <p:spPr>
          <a:xfrm>
            <a:off x="1435608" y="3749040"/>
            <a:ext cx="731520" cy="0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7"/>
          <p:cNvSpPr/>
          <p:nvPr/>
        </p:nvSpPr>
        <p:spPr>
          <a:xfrm>
            <a:off x="726948" y="3931920"/>
            <a:ext cx="2148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Next.js o Flutter — experiencia fluida en web y tablets de sala.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360420" y="1874520"/>
            <a:ext cx="2606040" cy="374904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206240" y="2194560"/>
            <a:ext cx="914400" cy="914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206240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543300" y="32918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Backend / API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4297680" y="3749040"/>
            <a:ext cx="731520" cy="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7"/>
          <p:cNvSpPr/>
          <p:nvPr/>
        </p:nvSpPr>
        <p:spPr>
          <a:xfrm>
            <a:off x="3589020" y="3931920"/>
            <a:ext cx="2148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Python (FastAPI) o Node.js (NestJS) — lógica de negocio vía API RESTful.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222492" y="1874520"/>
            <a:ext cx="2606040" cy="374904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068312" y="2194560"/>
            <a:ext cx="914400" cy="9144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068312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405372" y="32918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Base de Datos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7"/>
          <p:cNvCxnSpPr/>
          <p:nvPr/>
        </p:nvCxnSpPr>
        <p:spPr>
          <a:xfrm>
            <a:off x="7159752" y="3749040"/>
            <a:ext cx="731520" cy="0"/>
          </a:xfrm>
          <a:prstGeom prst="straightConnector1">
            <a:avLst/>
          </a:prstGeom>
          <a:noFill/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7"/>
          <p:cNvSpPr/>
          <p:nvPr/>
        </p:nvSpPr>
        <p:spPr>
          <a:xfrm>
            <a:off x="6451092" y="3931920"/>
            <a:ext cx="2148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PostgreSQL con Supabase — datos relacionales y autenticación en tiempo real.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9084564" y="1874520"/>
            <a:ext cx="2606040" cy="374904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9930384" y="2194560"/>
            <a:ext cx="914400" cy="91440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9930384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9267444" y="32918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Visión Artificial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>
            <a:off x="10021824" y="3749040"/>
            <a:ext cx="731520" cy="0"/>
          </a:xfrm>
          <a:prstGeom prst="straightConnector1">
            <a:avLst/>
          </a:prstGeom>
          <a:noFill/>
          <a:ln cap="flat" cmpd="sng" w="19050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7"/>
          <p:cNvSpPr/>
          <p:nvPr/>
        </p:nvSpPr>
        <p:spPr>
          <a:xfrm>
            <a:off x="9313164" y="3931920"/>
            <a:ext cx="2148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Google MediaPipe / TensorFlow Lite — rastreo de puntos y ángulos de movimiento.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-64008" y="6008914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07 · MODELO RELACIONAL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Primer Bosquejo del Modelo de Datos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640" y="1418812"/>
            <a:ext cx="8534389" cy="4949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08 · DIAGRAMA DE ARQUITECTURA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Arquitectura de Software Propuesta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22960" y="16916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Cliente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114800" y="169164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Aplicación Web / Tablet en sala — Next.js o Flutter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22960" y="26060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API RESTful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114800" y="260604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Python (FastAPI) o Node.js (NestJS) — lógica de negocio y autenticación SSO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22960" y="35204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Motor de Análisis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114800" y="352044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de recomendación de ejercicios + módulo de Visión Artificial (MediaPipe / TensorFlow Lite)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4434840"/>
            <a:ext cx="11064240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22960" y="44348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Base de Datos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114800" y="443484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PostgreSQL gestionado con Supabase — datos relacionales y tiempo real 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22960" y="5349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Infraestructura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114800" y="5349240"/>
            <a:ext cx="7223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Contenedores Docker  ·  CI/CD con GitHub Actions  ·  Nube Azure / AWS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9"/>
          <p:cNvCxnSpPr/>
          <p:nvPr/>
        </p:nvCxnSpPr>
        <p:spPr>
          <a:xfrm>
            <a:off x="6080760" y="246888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9"/>
          <p:cNvCxnSpPr/>
          <p:nvPr/>
        </p:nvCxnSpPr>
        <p:spPr>
          <a:xfrm>
            <a:off x="6080760" y="338328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p9"/>
          <p:cNvCxnSpPr/>
          <p:nvPr/>
        </p:nvCxnSpPr>
        <p:spPr>
          <a:xfrm>
            <a:off x="6080760" y="429768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9"/>
          <p:cNvCxnSpPr/>
          <p:nvPr/>
        </p:nvCxnSpPr>
        <p:spPr>
          <a:xfrm>
            <a:off x="6080760" y="521208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09 · MOCKUPS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264408" y="64008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Propuesta Visual de Pantallas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Plataforma de Gestión y Evaluación de Movimiento Funcional  |  CAF Duoc UC Plaza Vespucio  |  Fase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87" y="1581912"/>
            <a:ext cx="4800127" cy="339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7518" y="1325880"/>
            <a:ext cx="5467229" cy="2379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7518" y="3592285"/>
            <a:ext cx="5236735" cy="2530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10 · PRÓXIMOS PASOS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Continuidad Inmediata del Proyecto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98348" y="1920240"/>
            <a:ext cx="2606040" cy="3200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26948" y="21488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26948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99516" y="2834640"/>
            <a:ext cx="22037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Validar requerimientos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99516" y="3611880"/>
            <a:ext cx="22037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Confirmar con el CAF que el levantamiento de requerimientos es coherente con su funcionamiento real.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1"/>
          <p:cNvCxnSpPr/>
          <p:nvPr/>
        </p:nvCxnSpPr>
        <p:spPr>
          <a:xfrm>
            <a:off x="3122676" y="352044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11"/>
          <p:cNvSpPr/>
          <p:nvPr/>
        </p:nvSpPr>
        <p:spPr>
          <a:xfrm>
            <a:off x="3360420" y="1920240"/>
            <a:ext cx="2606040" cy="3200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589020" y="21488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58902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561588" y="2834640"/>
            <a:ext cx="22037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Cerrar arquitectura y modelo de 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561588" y="3611880"/>
            <a:ext cx="22037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Definir en detalle el diagrama de arquitectura y el modelo relacional antes de programar.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1"/>
          <p:cNvCxnSpPr/>
          <p:nvPr/>
        </p:nvCxnSpPr>
        <p:spPr>
          <a:xfrm>
            <a:off x="5984748" y="352044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11"/>
          <p:cNvSpPr/>
          <p:nvPr/>
        </p:nvSpPr>
        <p:spPr>
          <a:xfrm>
            <a:off x="6222492" y="1920240"/>
            <a:ext cx="2606040" cy="3200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451092" y="21488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451092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423660" y="2834640"/>
            <a:ext cx="22037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Iniciar el MVP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423660" y="3611880"/>
            <a:ext cx="22037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Comenzar el desarrollo del módulo de evaluación digital y la gestión de perfiles de usuario.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1"/>
          <p:cNvCxnSpPr/>
          <p:nvPr/>
        </p:nvCxnSpPr>
        <p:spPr>
          <a:xfrm>
            <a:off x="8846820" y="352044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5B767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11"/>
          <p:cNvSpPr/>
          <p:nvPr/>
        </p:nvSpPr>
        <p:spPr>
          <a:xfrm>
            <a:off x="9084564" y="1901578"/>
            <a:ext cx="2606040" cy="3200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9313164" y="21488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9313164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9285732" y="2834640"/>
            <a:ext cx="22037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Planificar Fase 2 (IA)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9285732" y="3611880"/>
            <a:ext cx="220370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Explorar la integración de MediaPipe/TensorFlow Lite para la detección de puntos anatómicos.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677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B7677"/>
                </a:solidFill>
                <a:latin typeface="Calibri"/>
                <a:ea typeface="Calibri"/>
                <a:cs typeface="Calibri"/>
                <a:sym typeface="Calibri"/>
              </a:rPr>
              <a:t>Seguimiento quincenal con el docente/cliente y actualización continua del Product Backlog.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24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/>
          <p:nvPr/>
        </p:nvSpPr>
        <p:spPr>
          <a:xfrm>
            <a:off x="-1463040" y="4389120"/>
            <a:ext cx="3840480" cy="384048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0332720" y="-1280160"/>
            <a:ext cx="2926080" cy="2926080"/>
          </a:xfrm>
          <a:prstGeom prst="ellipse">
            <a:avLst/>
          </a:prstGeom>
          <a:solidFill>
            <a:srgbClr val="00A896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11 · CONCLUSIONES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Una base sólida para digitalizar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movimiento funcional del CAF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234440" y="244144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proyecto entrega una solución digital real y aplicable para el CAF Duoc UC Plaza Vespucio.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234440" y="331012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 competencias de desarrollo de software, gestión de bases de datos e inteligencia artificial aplicada.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234440" y="417880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metodología ágil (Scrum) permite entregas incrementales, validación continua y foco en el MVP.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234440" y="504748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Fase 1 deja las bases (requerimientos, arquitectura y backlog) listas para iniciar el desarrollo en la Fase 2.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2026-08-25T14:58:44Z</dcterms:created>
  <dc:creator>PptxGenJS</dc:creator>
</cp:coreProperties>
</file>